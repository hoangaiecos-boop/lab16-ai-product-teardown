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42d65a264e47e2" /><Relationship Type="http://schemas.openxmlformats.org/officeDocument/2006/relationships/extended-properties" Target="/docProps/app.xml" Id="R65a69eea5b5b46c2" /><Relationship Type="http://schemas.openxmlformats.org/officeDocument/2006/relationships/officeDocument" Target="/ppt/presentation.xml" Id="R6eeab254fe5549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84836083f84dbb"/>
  </p:sldMasterIdLst>
  <p:notesMasterIdLst>
    <p:notesMasterId xmlns:r="http://schemas.openxmlformats.org/officeDocument/2006/relationships" r:id="R7794a7a12efc46a6"/>
  </p:notesMasterIdLst>
  <p:sldIdLst>
    <p:sldId xmlns:r="http://schemas.openxmlformats.org/officeDocument/2006/relationships" id="256" r:id="R7379fdc9721a4d9e"/>
    <p:sldId xmlns:r="http://schemas.openxmlformats.org/officeDocument/2006/relationships" id="257" r:id="R3bfe4520e5f04e98"/>
    <p:sldId xmlns:r="http://schemas.openxmlformats.org/officeDocument/2006/relationships" id="258" r:id="R1600e6fa970c4bb7"/>
    <p:sldId xmlns:r="http://schemas.openxmlformats.org/officeDocument/2006/relationships" id="259" r:id="R0f83af58fbb44419"/>
    <p:sldId xmlns:r="http://schemas.openxmlformats.org/officeDocument/2006/relationships" id="260" r:id="R65f40c85cc4846e6"/>
    <p:sldId xmlns:r="http://schemas.openxmlformats.org/officeDocument/2006/relationships" id="261" r:id="Rc6c21d1efd054b47"/>
    <p:sldId xmlns:r="http://schemas.openxmlformats.org/officeDocument/2006/relationships" id="262" r:id="R8ffda08cc5f24b10"/>
    <p:sldId xmlns:r="http://schemas.openxmlformats.org/officeDocument/2006/relationships" id="263" r:id="R3ac372af7657414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6278f400b043f9" /><Relationship Type="http://schemas.openxmlformats.org/officeDocument/2006/relationships/slideMaster" Target="/ppt/slideMasters/slideMaster1.xml" Id="R7984836083f84dbb" /><Relationship Type="http://schemas.openxmlformats.org/officeDocument/2006/relationships/notesMaster" Target="/ppt/notesMasters/notesMaster1.xml" Id="R7794a7a12efc46a6" /><Relationship Type="http://schemas.openxmlformats.org/officeDocument/2006/relationships/presProps" Target="/ppt/presProps.xml" Id="R66ab963292b84d00" /><Relationship Type="http://schemas.openxmlformats.org/officeDocument/2006/relationships/tableStyles" Target="/ppt/tableStyles.xml" Id="Rc18c424a54f14b98" /><Relationship Type="http://schemas.openxmlformats.org/officeDocument/2006/relationships/slide" Target="/ppt/slides/slide1.xml" Id="R7379fdc9721a4d9e" /><Relationship Type="http://schemas.openxmlformats.org/officeDocument/2006/relationships/slide" Target="/ppt/slides/slide2.xml" Id="R3bfe4520e5f04e98" /><Relationship Type="http://schemas.openxmlformats.org/officeDocument/2006/relationships/slide" Target="/ppt/slides/slide3.xml" Id="R1600e6fa970c4bb7" /><Relationship Type="http://schemas.openxmlformats.org/officeDocument/2006/relationships/slide" Target="/ppt/slides/slide4.xml" Id="R0f83af58fbb44419" /><Relationship Type="http://schemas.openxmlformats.org/officeDocument/2006/relationships/slide" Target="/ppt/slides/slide5.xml" Id="R65f40c85cc4846e6" /><Relationship Type="http://schemas.openxmlformats.org/officeDocument/2006/relationships/slide" Target="/ppt/slides/slide6.xml" Id="Rc6c21d1efd054b47" /><Relationship Type="http://schemas.openxmlformats.org/officeDocument/2006/relationships/slide" Target="/ppt/slides/slide7.xml" Id="R8ffda08cc5f24b10" /><Relationship Type="http://schemas.openxmlformats.org/officeDocument/2006/relationships/slide" Target="/ppt/slides/slide8.xml" Id="R3ac372af765741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5828a34e9c4c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7dc0271a6e4ff9" /><Relationship Type="http://schemas.openxmlformats.org/officeDocument/2006/relationships/notesMaster" Target="/ppt/notesMasters/notesMaster1.xml" Id="R7208d14be4984d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b3e02229c7433d" /><Relationship Type="http://schemas.openxmlformats.org/officeDocument/2006/relationships/notesMaster" Target="/ppt/notesMasters/notesMaster1.xml" Id="R0ee6c9aa2b784d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d9f73c5b984b68" /><Relationship Type="http://schemas.openxmlformats.org/officeDocument/2006/relationships/notesMaster" Target="/ppt/notesMasters/notesMaster1.xml" Id="R26b0b8a43ea349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93860d6b2048de" /><Relationship Type="http://schemas.openxmlformats.org/officeDocument/2006/relationships/notesMaster" Target="/ppt/notesMasters/notesMaster1.xml" Id="R32cea9097f404a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70bcc0032a46a7" /><Relationship Type="http://schemas.openxmlformats.org/officeDocument/2006/relationships/notesMaster" Target="/ppt/notesMasters/notesMaster1.xml" Id="R2702b97bb34d43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0cbd3068c148cb" /><Relationship Type="http://schemas.openxmlformats.org/officeDocument/2006/relationships/notesMaster" Target="/ppt/notesMasters/notesMaster1.xml" Id="R9465d152989047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9d8b2b91b14c06" /><Relationship Type="http://schemas.openxmlformats.org/officeDocument/2006/relationships/notesMaster" Target="/ppt/notesMasters/notesMaster1.xml" Id="R3427a90441af4a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2c5d2115f34647" /><Relationship Type="http://schemas.openxmlformats.org/officeDocument/2006/relationships/notesMaster" Target="/ppt/notesMasters/notesMaster1.xml" Id="Rbf0a417cc5e64f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https://elevenlabs.io/blog/500m-arr-and-new-investors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https://elevenlabs.io/blog/elevenlabs-comes-out-of-beta-and-releases-eleven-multilingual-v2-a-foundational-ai-speech-model-for-nearly-30-languages</a:t>
            </a:r>
          </a:p>
          <a:p xmlns:a="http://schemas.openxmlformats.org/drawingml/2006/main">
            <a:r>
              <a:t>- https://elevenlabs.io/blog/introducing-elevenlabs-agents</a:t>
            </a:r>
          </a:p>
          <a:p xmlns:a="http://schemas.openxmlformats.org/drawingml/2006/main">
            <a:r>
              <a:t>- https://elevenlabs.io/blog/introducing-elevenagents-spotlight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https://elevenlabs.io/blog/introducing-voice-actor-payouts</a:t>
            </a:r>
          </a:p>
          <a:p xmlns:a="http://schemas.openxmlformats.org/drawingml/2006/main">
            <a:r>
              <a:t>- https://elevenlabs.io/blog/22-million-earned-by-voice-creators-on-elevenlabs</a:t>
            </a:r>
          </a:p>
          <a:p xmlns:a="http://schemas.openxmlformats.org/drawingml/2006/main">
            <a:r>
              <a:t>- https://elevenlabs.io/blog/introducing-elevenlabs-agents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https://time.com/7325957/mati-staniszewski-elevenlabs-interview/</a:t>
            </a:r>
          </a:p>
          <a:p xmlns:a="http://schemas.openxmlformats.org/drawingml/2006/main">
            <a:r>
              <a:t>- https://elevenlabs.io/blog/introducing-elevenlabs-agents</a:t>
            </a:r>
          </a:p>
          <a:p xmlns:a="http://schemas.openxmlformats.org/drawingml/2006/main">
            <a:r>
              <a:t>- https://sites.duke.edu/ddmc/2024/10/23/eleven-labs-falls-short/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https://apnews.com/article/2500813b642169478c27c168aab1b3e3</a:t>
            </a:r>
          </a:p>
          <a:p xmlns:a="http://schemas.openxmlformats.org/drawingml/2006/main">
            <a:r>
              <a:t>- https://sites.duke.edu/ddmc/2024/10/23/eleven-labs-falls-short/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https://elevenlabs.io/blog/500m-arr-and-new-investors</a:t>
            </a:r>
          </a:p>
          <a:p xmlns:a="http://schemas.openxmlformats.org/drawingml/2006/main">
            <a:r>
              <a:t>- https://time.com/7325957/mati-staniszewski-elevenlabs-interview/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https://elevenlabs.io/blog/22-million-earned-by-voice-creators-on-elevenlabs</a:t>
            </a:r>
          </a:p>
          <a:p xmlns:a="http://schemas.openxmlformats.org/drawingml/2006/main">
            <a:r>
              <a:t>- https://elevenlabs.io/blog/500m-arr-and-new-investors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https://elevenlabs.io/blog/500m-arr-and-new-investors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d4600e7e2c4e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beb9ae995544f9" /><Relationship Type="http://schemas.openxmlformats.org/officeDocument/2006/relationships/slideLayout" Target="/ppt/slideLayouts/slideLayout1.xml" Id="R613246f32d994a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3246f32d994a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f289a991e4673" /><Relationship Type="http://schemas.openxmlformats.org/officeDocument/2006/relationships/notesSlide" Target="/ppt/notesSlides/notesSlide1.xml" Id="Rd2892e992c8949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845cb4e164751" /><Relationship Type="http://schemas.openxmlformats.org/officeDocument/2006/relationships/notesSlide" Target="/ppt/notesSlides/notesSlide2.xml" Id="R2c74917def6840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75f2bccab4514" /><Relationship Type="http://schemas.openxmlformats.org/officeDocument/2006/relationships/notesSlide" Target="/ppt/notesSlides/notesSlide3.xml" Id="Rb6e89e3a799345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0dff1bc2a4789" /><Relationship Type="http://schemas.openxmlformats.org/officeDocument/2006/relationships/notesSlide" Target="/ppt/notesSlides/notesSlide4.xml" Id="R0f84c679a0784c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f7420ea9b4570" /><Relationship Type="http://schemas.openxmlformats.org/officeDocument/2006/relationships/notesSlide" Target="/ppt/notesSlides/notesSlide5.xml" Id="Rbf35814a30be4f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d8c35f3a1438a" /><Relationship Type="http://schemas.openxmlformats.org/officeDocument/2006/relationships/notesSlide" Target="/ppt/notesSlides/notesSlide6.xml" Id="R04e8a895281b46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e571744324512" /><Relationship Type="http://schemas.openxmlformats.org/officeDocument/2006/relationships/notesSlide" Target="/ppt/notesSlides/notesSlide7.xml" Id="R7ba03a6015dc49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236a896e346bf" /><Relationship Type="http://schemas.openxmlformats.org/officeDocument/2006/relationships/notesSlide" Target="/ppt/notesSlides/notesSlide8.xml" Id="R4c99baa7661b46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1DF3DF-243A-4F58-B3D1-73F15704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AI PRODUCT TEARDOWN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86E6C7-4A6B-428A-9FA4-8B4E45B3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685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</a:defRPr>
            </a:pPr>
            <a:r>
              <a:rPr sz="4800" b="1">
                <a:solidFill>
                  <a:srgbClr val="111111"/>
                </a:solidFill>
              </a:rPr>
              <a:t>ElevenLabs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765BB-F8A0-4C54-9C74-1973C810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6191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7243A"/>
                </a:solidFill>
              </a:defRPr>
            </a:pPr>
            <a:r>
              <a:rPr sz="2550" b="0">
                <a:solidFill>
                  <a:srgbClr val="17243A"/>
                </a:solidFill>
              </a:rPr>
              <a:t>Từ mô hình giọng nói gây “wow”</a:t>
            </a:r>
          </a:p>
          <a:p xmlns:a="http://schemas.openxmlformats.org/drawingml/2006/main">
            <a:pPr algn="l">
              <a:defRPr sz="2550" b="0">
                <a:solidFill>
                  <a:srgbClr val="17243A"/>
                </a:solidFill>
              </a:defRPr>
            </a:pPr>
            <a:r>
              <a:rPr sz="2550" b="0">
                <a:solidFill>
                  <a:srgbClr val="17243A"/>
                </a:solidFill>
              </a:rPr>
              <a:t>đến hạ tầng tương tác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2262C-9A32-4D19-971C-30A71EC7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85800"/>
            <a:ext cx="33147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C75F46-7EE0-45CD-90AA-9A65EA8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906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CEEFF"/>
                </a:solidFill>
              </a:defRPr>
            </a:pPr>
            <a:r>
              <a:rPr sz="1275" b="1">
                <a:solidFill>
                  <a:srgbClr val="DCEEFF"/>
                </a:solidFill>
              </a:rPr>
              <a:t>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2DD11A-43FE-404F-B05C-15D43DDF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95450"/>
            <a:ext cx="209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4A55C9-F09C-4640-BECD-72D93342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WORKFLOW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EE3EA-2A65-4AEB-A18E-1B558FDA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MARKETPLACE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752889-06B4-44BE-B4DC-02DD1B19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242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PLATFORM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D4ADE6-510F-407B-B190-48509BB2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81500"/>
            <a:ext cx="2381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EEFF"/>
                </a:solidFill>
              </a:defRPr>
            </a:pPr>
            <a:r>
              <a:rPr sz="1350" b="1">
                <a:solidFill>
                  <a:srgbClr val="DCEEFF"/>
                </a:solidFill>
              </a:rPr>
              <a:t>Moat tương lai = trust + outcome ở quy mô lớn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DD2D6-4740-46FE-8ACD-FE17C29C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3666A"/>
                </a:solidFill>
              </a:defRPr>
            </a:pPr>
            <a:r>
              <a:rPr sz="975" b="0">
                <a:solidFill>
                  <a:srgbClr val="63666A"/>
                </a:solidFill>
              </a:rPr>
              <a:t>Nhóm 5 · Leader: Nguyễn Tấn Hoàng — 2A202601198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DEC5B-63B5-4199-8DF1-089D8194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3666A"/>
                </a:solidFill>
              </a:defRPr>
            </a:pPr>
            <a:r>
              <a:rPr sz="900" b="0">
                <a:solidFill>
                  <a:srgbClr val="63666A"/>
                </a:solidFill>
              </a:rPr>
              <a:t>Nguyễn Minh Đức — 2A202601946 · Đỗ Tú Anh — 2A202601272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1BA552-9432-4D38-8344-3A8CF90D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3666A"/>
                </a:solidFill>
              </a:defRPr>
            </a:pPr>
            <a:r>
              <a:rPr sz="900" b="0">
                <a:solidFill>
                  <a:srgbClr val="63666A"/>
                </a:solidFill>
              </a:rPr>
              <a:t>Trần Hoàng Quân — 2A202601805 · Trần Thị Hoa Mai — 2A202601317</a:t>
            </a:r>
          </a:p>
        </p:txBody>
      </p:sp>
    </p:spTree>
    <p:extLst>
      <p:ext uri="{BB962C8B-B14F-4D97-AF65-F5344CB8AC3E}">
        <p14:creationId xmlns:p14="http://schemas.microsoft.com/office/powerpoint/2010/main" val="14891253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4D9E403-9C43-4CFB-A76D-EE57A432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0C2679-5D8D-4683-95CD-E204F689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Tám quyết định cho thấy một chiến lược đi lên stack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D4861-9CE0-44A8-84B6-09B0E159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666A"/>
                </a:solidFill>
              </a:defRPr>
            </a:pPr>
            <a:r>
              <a:rPr sz="1275" b="0">
                <a:solidFill>
                  <a:srgbClr val="63666A"/>
                </a:solidFill>
              </a:rPr>
              <a:t>Model → workflow → marketplace → enterprise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3EBDA-9ABF-4F73-B8B7-79C90459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39D59-2F33-4FD3-B91A-9B5118D1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4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653735-A05A-4DCF-80A9-DBA45C55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152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62E454-87E9-4921-B8F5-5A2D0908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2023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7A3197-D9A3-4909-A75C-33755A11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81400"/>
            <a:ext cx="152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FCEF00-70F6-481F-9582-6B221C5D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005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2024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045CDB-B923-4A69-B217-65F97C9F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81400"/>
            <a:ext cx="152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CA600-FAF5-46CB-A329-C02A6C46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2025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5896C-ABBF-4C19-BBB2-46955B60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81400"/>
            <a:ext cx="152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FE1981-8270-45AD-9753-0EAF692E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005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369A6A-BD9C-46F9-A9AA-048CF07F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719FED-9D4D-4E87-8F1F-7B1778CE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TTS + cloning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38052-5358-4734-9A1B-41004524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52675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666A"/>
                </a:solidFill>
              </a:defRPr>
            </a:pPr>
            <a:r>
              <a:rPr sz="1050" b="0">
                <a:solidFill>
                  <a:srgbClr val="63666A"/>
                </a:solidFill>
              </a:rPr>
              <a:t>Wow wedge → safety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FE5D78-2E2B-438C-904C-4957E5E1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67025"/>
            <a:ext cx="19050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5F4FF-2566-4B87-B7D8-C4A9789F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6725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9EF730-04C3-4BEB-A0EB-60177995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7625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Multilingual + Dubbing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672BB8-EC31-4EAE-AB93-1F662C23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067300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666A"/>
                </a:solidFill>
              </a:defRPr>
            </a:pPr>
            <a:r>
              <a:rPr sz="1050" b="0">
                <a:solidFill>
                  <a:srgbClr val="63666A"/>
                </a:solidFill>
              </a:rPr>
              <a:t>Mở TAM, sở hữu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5A731C-2C77-4DC5-B6FC-6DDC79CA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147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C6FE71-B77B-43AD-971A-28D364D5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52625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C80240-7FAE-4BD1-ADDE-C4D75921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478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Voice payouts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B65336-C655-459D-8DE4-658D6947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52675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666A"/>
                </a:solidFill>
              </a:defRPr>
            </a:pPr>
            <a:r>
              <a:rPr sz="1050" b="0">
                <a:solidFill>
                  <a:srgbClr val="63666A"/>
                </a:solidFill>
              </a:rPr>
              <a:t>Trust thành marketplace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02D370-86C8-4638-86DF-8D7C281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67025"/>
            <a:ext cx="19050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F34786-FB9B-4AE8-BBE4-7DF47E62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6725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7BFBC1-8E41-40AF-8E68-096F349B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7625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Conversational AI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D959DC-AC7F-4CFB-AC6C-F826B46D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67300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666A"/>
                </a:solidFill>
              </a:defRPr>
            </a:pPr>
            <a:r>
              <a:rPr sz="1050" b="0">
                <a:solidFill>
                  <a:srgbClr val="63666A"/>
                </a:solidFill>
              </a:rPr>
              <a:t>Artifact → interaction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64D49-70F1-46A7-8B14-5ABF251B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D62C77-8251-4F56-8F99-3F6EA76F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10685D-584A-4A61-92B5-8F9F1BDF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478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Scribe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6483EF-C8B8-4E81-BFAB-593202A8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52675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666A"/>
                </a:solidFill>
              </a:defRPr>
            </a:pPr>
            <a:r>
              <a:rPr sz="1050" b="0">
                <a:solidFill>
                  <a:srgbClr val="63666A"/>
                </a:solidFill>
              </a:rPr>
              <a:t>Sở hữu input loop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5F3D17-532F-4304-A29D-1DF6B3D7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67025"/>
            <a:ext cx="19050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0E10D0-8A79-4EBA-8EBC-60C917CE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6725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2D7F91-310C-45C8-8967-3700EF1C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625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Agents + Workflows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2FB760-0B79-4B9D-8905-AD058EC3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67300"/>
            <a:ext cx="144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666A"/>
                </a:solidFill>
              </a:defRPr>
            </a:pPr>
            <a:r>
              <a:rPr sz="1050" b="0">
                <a:solidFill>
                  <a:srgbClr val="63666A"/>
                </a:solidFill>
              </a:rPr>
              <a:t>Vượt production chasm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75126C-9332-441D-A081-CB7A4D18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147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8FD1B4-F7E5-4D4D-8E4B-72601044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952625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0F74A6-0EDA-4C59-BF07-F1CD2533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478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Dubbing v2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3325E7-6678-4180-A678-16FAE128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52675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666A"/>
                </a:solidFill>
              </a:defRPr>
            </a:pPr>
            <a:r>
              <a:rPr sz="1050" b="0">
                <a:solidFill>
                  <a:srgbClr val="63666A"/>
                </a:solidFill>
              </a:rPr>
              <a:t>Human + automation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ADA9439-D467-4688-9096-D2FF12FB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867025"/>
            <a:ext cx="19050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DB98D87-E19A-4518-8679-E06C3B34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66725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D57BFD-784A-48B0-A4AE-632DC752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76250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Spotlight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AD2F9B-BA19-4949-B5BD-BD684FF7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06730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666A"/>
                </a:solidFill>
              </a:defRPr>
            </a:pPr>
            <a:r>
              <a:rPr sz="1050" b="0">
                <a:solidFill>
                  <a:srgbClr val="63666A"/>
                </a:solidFill>
              </a:rPr>
              <a:t>Đóng outcome loop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06C8E0-4D79-4A39-8852-481439FC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7147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8F90D1-7A8E-4F5A-8741-B3D437E1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3666A"/>
                </a:solidFill>
              </a:defRPr>
            </a:pPr>
            <a:r>
              <a:rPr sz="750" b="0">
                <a:solidFill>
                  <a:srgbClr val="63666A"/>
                </a:solidFill>
              </a:rPr>
              <a:t>Nguồn: ElevenLabs product blog 2023–2026; Associated Press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8F42A62-F2B1-4688-A592-30D06984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3666A"/>
                </a:solidFill>
              </a:defRPr>
            </a:pPr>
            <a:r>
              <a:rPr sz="825" b="0">
                <a:solidFill>
                  <a:srgbClr val="63666A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93618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3938A9-3B65-4F00-9E10-64B503C4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F16C8-D17F-4182-92CD-D39B617F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Ba nguyên lý giải thích phần lớn 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1500A0-FACE-4833-BCF7-FD663733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8E4853-CC46-45D9-B280-4C40A125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D8DFF"/>
                </a:solidFill>
              </a:defRPr>
            </a:pPr>
            <a:r>
              <a:rPr sz="24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51B6B-4218-427A-8821-8211B8BE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2895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1C05A-C16F-4D11-9584-3940A438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89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Bán workflow,</a:t>
            </a:r>
          </a:p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không chỉ bán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3B0FB-0DAC-49B8-A403-AC8FCC52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289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3666A"/>
                </a:solidFill>
              </a:defRPr>
            </a:pPr>
            <a:r>
              <a:rPr sz="1350" b="0">
                <a:solidFill>
                  <a:srgbClr val="63666A"/>
                </a:solidFill>
              </a:rPr>
              <a:t>Dubbing gom STT → dịch → clone → timing. Agents gom voice → tools → test → monitor.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54264A-6379-483F-8EC7-80162819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002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D8DFF"/>
                </a:solidFill>
              </a:defRPr>
            </a:pPr>
            <a:r>
              <a:rPr sz="24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EA1D9F-6BD7-4BA4-B3BB-6A8D5EB9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00325"/>
            <a:ext cx="2895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E0D6D6-1A6B-49A6-90FC-9A4CFD72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81300"/>
            <a:ext cx="289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Biến rủi ro IP</a:t>
            </a:r>
          </a:p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thành marketplace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E83B7-60FF-4057-81D4-20A2E466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810000"/>
            <a:ext cx="289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3666A"/>
                </a:solidFill>
              </a:defRPr>
            </a:pPr>
            <a:r>
              <a:rPr sz="1350" b="0">
                <a:solidFill>
                  <a:srgbClr val="63666A"/>
                </a:solidFill>
              </a:rPr>
              <a:t>Consent + control + payout mở supply và tạo network effects. Payout vượt $22M.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562FE2-97CB-4F3D-9386-289A0942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002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D8DFF"/>
                </a:solidFill>
              </a:defRPr>
            </a:pPr>
            <a:r>
              <a:rPr sz="24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05458E-FCA9-41CD-95D7-C8C86220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0325"/>
            <a:ext cx="2895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3B5899-480A-4797-94F0-98A84EED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81300"/>
            <a:ext cx="2895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Enterprise mua</a:t>
            </a:r>
          </a:p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reliability, không mua demo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726A70-08D8-4F68-8A41-1024F00A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289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3666A"/>
                </a:solidFill>
              </a:defRPr>
            </a:pPr>
            <a:r>
              <a:rPr sz="1350" b="0">
                <a:solidFill>
                  <a:srgbClr val="63666A"/>
                </a:solidFill>
              </a:rPr>
              <a:t>Tests, Workflows, handoff và Spotlight mới mở deployment có giá trị cao.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D93903-8335-425A-901D-C9D88306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058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455249-8433-41BC-A845-65345EC5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48300"/>
            <a:ext cx="960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Đánh đổi: breadth tăng TAM, nhưng reliability của agent quan trọng hơn thêm một modality.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6422D5-6F7B-46F0-ABF3-36819696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3666A"/>
                </a:solidFill>
              </a:defRPr>
            </a:pPr>
            <a:r>
              <a:rPr sz="750" b="0">
                <a:solidFill>
                  <a:srgbClr val="63666A"/>
                </a:solidFill>
              </a:rPr>
              <a:t>Nguồn: Voice Actor Payouts; Introducing Agents; Spotlight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AB0933-3E47-4634-AC12-7C692F9E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3666A"/>
                </a:solidFill>
              </a:defRPr>
            </a:pPr>
            <a:r>
              <a:rPr sz="825" b="0">
                <a:solidFill>
                  <a:srgbClr val="63666A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253500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0A5B96-A925-4E2A-91E2-2EA3C158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C634B-CC68-43EF-BF55-3253507D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ElevenLabs phân tầng user thay vì bỏ tệp ban đầu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6552E8-44FE-4E2A-BCC7-A3E53EC9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692C9-6699-493E-9D6B-42FC6EF6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762500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3ACEB-8093-4518-9241-3E32BDF2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62150"/>
            <a:ext cx="4762500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7A0419-67BC-411E-BE8C-06FE0D1C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9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EARLY ADOPTERS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B48B4-E48B-4ECC-B12E-64436B4A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908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Creator tự phục vụ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D86B7-BDBB-4BC1-B7F5-721BCCA9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3666A"/>
                </a:solidFill>
              </a:defRPr>
            </a:pPr>
            <a:r>
              <a:rPr sz="1350" b="0">
                <a:solidFill>
                  <a:srgbClr val="63666A"/>
                </a:solidFill>
              </a:rPr>
              <a:t>YouTuber · indie author · game dev</a:t>
            </a:r>
          </a:p>
          <a:p xmlns:a="http://schemas.openxmlformats.org/drawingml/2006/main">
            <a:pPr algn="l">
              <a:defRPr sz="1350" b="0">
                <a:solidFill>
                  <a:srgbClr val="63666A"/>
                </a:solidFill>
              </a:defRPr>
            </a:pPr>
            <a:r>
              <a:rPr sz="1350" b="0">
                <a:solidFill>
                  <a:srgbClr val="63666A"/>
                </a:solidFill>
              </a:rPr>
              <a:t>localization team nhỏ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28B2E-6EDF-4C5F-A2F4-A5EDA53F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05250"/>
            <a:ext cx="400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Khi không có studio/talent, tôi muốn tạo voiceover giống người trong vài phút để publish nhanh với ngân sách nhỏ.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B03BA-4BD2-485C-AB72-20000748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9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TỆP HIỆN TẠI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8D3514-3DF5-490C-A96C-DB44B571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908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Team + enterprise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5F98D2-CE2A-47ED-B242-591D7EB2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3666A"/>
                </a:solidFill>
              </a:defRPr>
            </a:pPr>
            <a:r>
              <a:rPr sz="1350" b="0">
                <a:solidFill>
                  <a:srgbClr val="63666A"/>
                </a:solidFill>
              </a:rPr>
              <a:t>Creative/marketing · CX · product · ops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9D893-6767-41D5-A90D-4038D5C6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29050"/>
            <a:ext cx="400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Khi phục vụ hàng nghìn user đa channel/ngôn ngữ, tôi muốn deploy và kiểm soát workflow end-to-end để tăng resolution mà không tăng headcount tuyến tính.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8C43E9-46F8-4568-93D6-EFB98594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19450"/>
            <a:ext cx="83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3D8DFF"/>
                </a:solidFill>
              </a:defRPr>
            </a:pPr>
            <a:r>
              <a:rPr sz="34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B92BF2-5D46-40A8-8853-02618477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65785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43A"/>
                </a:solidFill>
              </a:defRPr>
            </a:pPr>
            <a:r>
              <a:rPr sz="1425" b="1">
                <a:solidFill>
                  <a:srgbClr val="17243A"/>
                </a:solidFill>
              </a:rPr>
              <a:t>Supply side: voice talent cấp phép digital replica với terms + payout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0DB42-C937-43BB-89BD-4E05BB39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3666A"/>
                </a:solidFill>
              </a:defRPr>
            </a:pPr>
            <a:r>
              <a:rPr sz="750" b="0">
                <a:solidFill>
                  <a:srgbClr val="63666A"/>
                </a:solidFill>
              </a:rPr>
              <a:t>Nguồn: TIME; ElevenLabs Agents; Duke Digital Media Community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2D0329-0E97-4B6A-824C-C49EAFF0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3666A"/>
                </a:solidFill>
              </a:defRPr>
            </a:pPr>
            <a:r>
              <a:rPr sz="825" b="0">
                <a:solidFill>
                  <a:srgbClr val="63666A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873770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71DE27-D0D3-429B-AA63-FE62E2C1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C55EF6-80F4-46E1-9B50-39784D5E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Pilot dễ; trust và integration quyết định 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BE1DC-7F33-4A4B-AC86-48ABF554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26AA3-D0C7-44C7-A108-5EB4B372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PUSH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4D46C-2949-4552-A297-E7089427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764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MẠNH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5BE51-F098-4700-B491-66EB976A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336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9F876-9A93-43D6-8A3A-07EF1029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33600"/>
            <a:ext cx="289750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6152B-9F1E-438E-BED9-3B01E20F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57400"/>
            <a:ext cx="3600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666A"/>
                </a:solidFill>
              </a:defRPr>
            </a:pPr>
            <a:r>
              <a:rPr sz="1275" b="0">
                <a:solidFill>
                  <a:srgbClr val="63666A"/>
                </a:solidFill>
              </a:rPr>
              <a:t>Recording, dubbing và support truyền thống đắt, chậm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C4802-E506-4F3B-9407-91176C35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PULL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64509-E8ED-4D48-B695-F8FC1583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952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MẠNH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464AF0-6122-40B1-B24E-708259BE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099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0331AF-4FD0-429C-84AC-50B51286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09900"/>
            <a:ext cx="312039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2F9B5A-1DBF-4C82-B945-F638434F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33700"/>
            <a:ext cx="3600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666A"/>
                </a:solidFill>
              </a:defRPr>
            </a:pPr>
            <a:r>
              <a:rPr sz="1275" b="0">
                <a:solidFill>
                  <a:srgbClr val="63666A"/>
                </a:solidFill>
              </a:rPr>
              <a:t>Voice tự nhiên + multilingual + workflow end-to-end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A4CDA-788F-4ED7-A124-C1258720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ANXIETY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2AD3B5-62DA-4506-9527-294C0049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RẤT MẠNH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AC1FEB-76DF-4BB5-B567-3C1C6923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862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9DFFA4-F658-497B-8A02-AB936D44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86200"/>
            <a:ext cx="352901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8D1FE4-36C7-495C-86CD-C8A6C9EB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10000"/>
            <a:ext cx="3600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666A"/>
                </a:solidFill>
              </a:defRPr>
            </a:pPr>
            <a:r>
              <a:rPr sz="1275" b="0">
                <a:solidFill>
                  <a:srgbClr val="63666A"/>
                </a:solidFill>
              </a:rPr>
              <a:t>Deepfake · hallucination · PII · mistranslation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CCB65F-5F3C-4C9A-BBDE-80018C1B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HABIT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3722E8-16D2-4EC8-85D4-C25BA2A5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7053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VỪA–MẠNH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01356C-8AE0-4553-BA41-2F9F2B9B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62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7B1758-8794-4015-9D10-A21246A8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62500"/>
            <a:ext cx="252603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FEED2C-261C-490C-A6CD-F23A0124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86300"/>
            <a:ext cx="3600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666A"/>
                </a:solidFill>
              </a:defRPr>
            </a:pPr>
            <a:r>
              <a:rPr sz="1275" b="0">
                <a:solidFill>
                  <a:srgbClr val="63666A"/>
                </a:solidFill>
              </a:rPr>
              <a:t>DAW · talent · contact center · CRM · telephony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BF7357-63D4-435A-BA66-43DD16D0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EF822A-744A-40B6-ABC8-6F6D4457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29300"/>
            <a:ext cx="1043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Demo quality mở cửa. Trust + integration quyết định deployment. Dữ liệu vận hành tạo switching cost.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07638C-F144-44D5-80F0-26D3F177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3666A"/>
                </a:solidFill>
              </a:defRPr>
            </a:pPr>
            <a:r>
              <a:rPr sz="750" b="0">
                <a:solidFill>
                  <a:srgbClr val="63666A"/>
                </a:solidFill>
              </a:rPr>
              <a:t>Nguồn: AP safeguard test 2024; Duke; community feedback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CBFFB2-C7B4-442D-A21F-2ADCE8A0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3666A"/>
                </a:solidFill>
              </a:defRPr>
            </a:pPr>
            <a:r>
              <a:rPr sz="825" b="0">
                <a:solidFill>
                  <a:srgbClr val="63666A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910056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3FBB43-CEA1-42D7-889D-866EC550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12EC0-8402-476C-B103-31C51027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Ba dự đoán có thể kiểm chứng trước tháng 8/2027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17B50-74AB-4C55-9839-DD076A83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B1DBF-7BA6-4928-BBA5-D56566DA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AC4B73-3DC3-4F80-81F7-DDA28714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5262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VERTICAL AGENTS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D2A92B-2F92-47EA-9456-B145D25C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14525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≥2 gói theo ngành, kèm workflow, evaluation, compliance và managed deployment.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B654A-F774-4640-9CAE-4F398ED3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14525"/>
            <a:ext cx="2743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666A"/>
                </a:solidFill>
              </a:defRPr>
            </a:pPr>
            <a:r>
              <a:rPr sz="1125" b="0">
                <a:solidFill>
                  <a:srgbClr val="63666A"/>
                </a:solidFill>
              </a:rPr>
              <a:t>Tín hiệu: pricing theo outcome; FDE; partnership contact-center.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637DC-79A2-49DA-953D-F0DB9A30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E9A71C-C9B6-4AF4-ABAC-C82BE63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63E6E7-B32D-4FC9-BFA8-2794DE77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051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RIGHTS MARKETPLACE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8CAD45-A13F-43EC-9181-23C20B22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67075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Identity pack đa phương tiện; cumulative creator payout vượt $40M.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2248C6-5707-4FA8-B12B-BB94C342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67075"/>
            <a:ext cx="2743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666A"/>
                </a:solidFill>
              </a:defRPr>
            </a:pPr>
            <a:r>
              <a:rPr sz="1125" b="0">
                <a:solidFill>
                  <a:srgbClr val="63666A"/>
                </a:solidFill>
              </a:rPr>
              <a:t>Tín hiệu: unified rights dashboard; provenance API; label/estate deals.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6BCB23-1888-44F4-889E-5E4DC652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95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AB2F58-4005-4F4A-9F4F-D5B8452D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18D9B0-BECC-4067-AB8E-5460849D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5772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AUDIO-NATIVE MODEL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44855-2622-40A2-B24D-9F7BE2C7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19625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Preview/GA full-duplex audio-in/audio-out nhưng vẫn hỗ trợ custom LLM/STT.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6CE690-7207-4444-B6F6-124AE610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9625"/>
            <a:ext cx="2743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666A"/>
                </a:solidFill>
              </a:defRPr>
            </a:pPr>
            <a:r>
              <a:rPr sz="1125" b="0">
                <a:solidFill>
                  <a:srgbClr val="63666A"/>
                </a:solidFill>
              </a:rPr>
              <a:t>Tín hiệu: streaming API; unified conversation pricing; benchmark interruption.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FB6395-8571-48F6-9F5B-291A8A8D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43A"/>
                </a:solidFill>
              </a:defRPr>
            </a:pPr>
            <a:r>
              <a:rPr sz="1425" b="1">
                <a:solidFill>
                  <a:srgbClr val="17243A"/>
                </a:solidFill>
              </a:rPr>
              <a:t>Logic: ElevenLabs luôn đóng loop còn thiếu; bottleneck kế tiếp là production trust và IP control.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8BC576-7B88-4FF7-BC4C-34CED873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3666A"/>
                </a:solidFill>
              </a:defRPr>
            </a:pPr>
            <a:r>
              <a:rPr sz="750" b="0">
                <a:solidFill>
                  <a:srgbClr val="63666A"/>
                </a:solidFill>
              </a:rPr>
              <a:t>Khung dự đoán: 14.08.2026–14.08.2027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A3F6A1-2298-4AD4-9114-ECD10EB5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3666A"/>
                </a:solidFill>
              </a:defRPr>
            </a:pPr>
            <a:r>
              <a:rPr sz="825" b="0">
                <a:solidFill>
                  <a:srgbClr val="63666A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982805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D1F26-A905-40B1-AD24-BF848F9E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7E946-B492-4195-87DC-E45CE489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Dự đoán khó nhất: marketplace sẽ mở rộng từ giọng sang identity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56F20F-12DE-4A19-BE66-CB1AA777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5AB12-6FC4-40B1-A52A-78663792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$11M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4E2C0-EAEA-46A5-8FDF-824B7782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666A"/>
                </a:solidFill>
              </a:defRPr>
            </a:pPr>
            <a:r>
              <a:rPr sz="1125" b="0">
                <a:solidFill>
                  <a:srgbClr val="63666A"/>
                </a:solidFill>
              </a:rPr>
              <a:t>11/2025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986E95-EC5B-44A0-B985-82FBFE16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431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3D8DFF"/>
                </a:solidFill>
              </a:defRPr>
            </a:pPr>
            <a:r>
              <a:rPr sz="25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A1587E-020A-4158-AD42-4586073D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47875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3D8DFF"/>
                </a:solidFill>
              </a:defRPr>
            </a:pPr>
            <a:r>
              <a:rPr sz="3600" b="1">
                <a:solidFill>
                  <a:srgbClr val="3D8DFF"/>
                </a:solidFill>
              </a:rPr>
              <a:t>$22M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4DAAA-5D05-44A8-85D9-3ECAF7CD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666A"/>
                </a:solidFill>
              </a:defRPr>
            </a:pPr>
            <a:r>
              <a:rPr sz="1125" b="0">
                <a:solidFill>
                  <a:srgbClr val="63666A"/>
                </a:solidFill>
              </a:rPr>
              <a:t>05/2026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B67E4C-16A8-43D0-88D0-C9B3BB56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431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3D8DFF"/>
                </a:solidFill>
              </a:defRPr>
            </a:pPr>
            <a:r>
              <a:rPr sz="25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1A1D5-E67E-402F-A694-CFC0390F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05000"/>
            <a:ext cx="3714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024CD9-315A-4F9A-9489-48031BA1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574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&gt; $40M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906FCD-432E-4123-A371-E0438B64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52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EFF"/>
                </a:solidFill>
              </a:defRPr>
            </a:pPr>
            <a:r>
              <a:rPr sz="1200" b="0">
                <a:solidFill>
                  <a:srgbClr val="DCEEFF"/>
                </a:solidFill>
              </a:rPr>
              <a:t>dự đoán trước 08/2027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23FF8-5710-423B-935A-360B71CC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FDA832-14A4-47C5-AB32-21FE5FEA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VÌ SAO CÓ THỂ ĐÚNG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63017-629B-461F-9D45-3EDF18C9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38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Payout tăng gấp đôi trong 6 tháng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Creative đang gộp voice, music, image/video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Brand cần identity nhất quán đa ngôn ngữ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4879B-33B3-4F4F-93CE-31E966E4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ĐIỀU KHIẾN NHÓM ĐỔI 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34F37B-71B1-4905-AB5E-D11F55C2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38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Litigation làm catalog co lại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Payout growth chậm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Buyer tiếp tục chuộng stock assets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DC66D-1081-4461-BE18-41448A14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058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481DDC-B7E3-4337-92D9-F7657A13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9677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43A"/>
                </a:solidFill>
              </a:defRPr>
            </a:pPr>
            <a:r>
              <a:rPr sz="1350" b="1">
                <a:solidFill>
                  <a:srgbClr val="17243A"/>
                </a:solidFill>
              </a:rPr>
              <a:t>Tín hiệu sớm: unified rights dashboard · Music Marketplace · provenance API · estate/label deals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86A811-F6A3-4187-BC17-B7C9378D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674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3666A"/>
                </a:solidFill>
              </a:defRPr>
            </a:pPr>
            <a:r>
              <a:rPr sz="750" b="0">
                <a:solidFill>
                  <a:srgbClr val="63666A"/>
                </a:solidFill>
              </a:rPr>
              <a:t>Nguồn: ElevenLabs, $22M earned by voice creators, 22.05.2026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429028-E7D7-4F3A-8C60-425BF698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3666A"/>
                </a:solidFill>
              </a:defRPr>
            </a:pPr>
            <a:r>
              <a:rPr sz="825" b="0">
                <a:solidFill>
                  <a:srgbClr val="63666A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7765108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2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3C5FC-258E-4D1D-A748-9D6817CC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EEFF"/>
                </a:solidFill>
              </a:defRPr>
            </a:pPr>
            <a:r>
              <a:rPr sz="1125" b="1">
                <a:solidFill>
                  <a:srgbClr val="DCEEFF"/>
                </a:solidFill>
              </a:rPr>
              <a:t>KẾT LUẬN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BFD55-0A08-4B9D-8CF1-000E8C24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876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AI model tạo wedge.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Workflow tạo retention.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Trust + data loop tạo moat.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0F6DD-7DE5-4035-9F86-DFE5C484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991F2-EFA1-4058-9122-7538134E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790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CEEFF"/>
                </a:solidFill>
              </a:defRPr>
            </a:pPr>
            <a:r>
              <a:rPr sz="1800" b="0">
                <a:solidFill>
                  <a:srgbClr val="DCEEFF"/>
                </a:solidFill>
              </a:rPr>
              <a:t>ElevenLabs thắng vòng đầu bằng “nghe như người”.</a:t>
            </a:r>
          </a:p>
          <a:p xmlns:a="http://schemas.openxmlformats.org/drawingml/2006/main">
            <a:pPr algn="l">
              <a:defRPr sz="1800" b="0">
                <a:solidFill>
                  <a:srgbClr val="DCEEFF"/>
                </a:solidFill>
              </a:defRPr>
            </a:pPr>
            <a:r>
              <a:rPr sz="1800" b="0">
                <a:solidFill>
                  <a:srgbClr val="DCEEFF"/>
                </a:solidFill>
              </a:rPr>
              <a:t>Vòng sau được quyết định bởi “hoạt động đáng tin như một hệ thống”.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EBF36-B378-42B9-876D-52C2ED4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6479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104D5-CEE2-4434-813A-BF885D90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672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CÂU HỎI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9364B-1AC4-4D7B-8F9F-672970EF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Creative suite, contact-center platform hay neutral audio infrastructure?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B25B3-C053-49DB-9AE0-BED109FB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EFF"/>
                </a:solidFill>
              </a:defRPr>
            </a:pPr>
            <a:r>
              <a:rPr sz="1050" b="0">
                <a:solidFill>
                  <a:srgbClr val="DCEEFF"/>
                </a:solidFill>
              </a:rPr>
              <a:t>Nguồn đầy đủ &amp; AI log: memo.md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7B52A0-D4D5-4587-886A-1AD1AAAC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DCEEFF"/>
                </a:solidFill>
              </a:defRPr>
            </a:pPr>
            <a:r>
              <a:rPr sz="900" b="0">
                <a:solidFill>
                  <a:srgbClr val="DCEEFF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324958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2026-08-14T05:39:31.5490000Z</dcterms:created>
  <dcterms:modified xsi:type="dcterms:W3CDTF">2026-08-14T05:39:31.5490000Z</dcterms:modified>
</coreProperties>
</file>