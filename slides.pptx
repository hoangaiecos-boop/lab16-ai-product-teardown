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2389d2bdae4117" /><Relationship Type="http://schemas.openxmlformats.org/officeDocument/2006/relationships/extended-properties" Target="/docProps/app.xml" Id="Rac5978e57784414a" /><Relationship Type="http://schemas.openxmlformats.org/officeDocument/2006/relationships/officeDocument" Target="/ppt/presentation.xml" Id="R3a60752018c0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6379cecb14541"/>
  </p:sldMasterIdLst>
  <p:notesMasterIdLst>
    <p:notesMasterId xmlns:r="http://schemas.openxmlformats.org/officeDocument/2006/relationships" r:id="Rf247d3f004124650"/>
  </p:notesMasterIdLst>
  <p:sldIdLst>
    <p:sldId xmlns:r="http://schemas.openxmlformats.org/officeDocument/2006/relationships" id="256" r:id="Re1a71d6fba4b4b84"/>
    <p:sldId xmlns:r="http://schemas.openxmlformats.org/officeDocument/2006/relationships" id="257" r:id="R0f06ff6c7f254fa6"/>
    <p:sldId xmlns:r="http://schemas.openxmlformats.org/officeDocument/2006/relationships" id="258" r:id="R01bdff62d95c44e2"/>
    <p:sldId xmlns:r="http://schemas.openxmlformats.org/officeDocument/2006/relationships" id="259" r:id="R08020f83ec0b43e2"/>
    <p:sldId xmlns:r="http://schemas.openxmlformats.org/officeDocument/2006/relationships" id="260" r:id="R38bfb290737e4c16"/>
    <p:sldId xmlns:r="http://schemas.openxmlformats.org/officeDocument/2006/relationships" id="261" r:id="Red4265d3418d4858"/>
    <p:sldId xmlns:r="http://schemas.openxmlformats.org/officeDocument/2006/relationships" id="262" r:id="R5ae38ec080e14235"/>
    <p:sldId xmlns:r="http://schemas.openxmlformats.org/officeDocument/2006/relationships" id="263" r:id="R3076cb1120b245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7561a1150443f2" /><Relationship Type="http://schemas.openxmlformats.org/officeDocument/2006/relationships/slideMaster" Target="/ppt/slideMasters/slideMaster1.xml" Id="Rcea6379cecb14541" /><Relationship Type="http://schemas.openxmlformats.org/officeDocument/2006/relationships/notesMaster" Target="/ppt/notesMasters/notesMaster1.xml" Id="Rf247d3f004124650" /><Relationship Type="http://schemas.openxmlformats.org/officeDocument/2006/relationships/presProps" Target="/ppt/presProps.xml" Id="Rf52ac021a6fc4abb" /><Relationship Type="http://schemas.openxmlformats.org/officeDocument/2006/relationships/tableStyles" Target="/ppt/tableStyles.xml" Id="R6d2425f16ea94780" /><Relationship Type="http://schemas.openxmlformats.org/officeDocument/2006/relationships/slide" Target="/ppt/slides/slide1.xml" Id="Re1a71d6fba4b4b84" /><Relationship Type="http://schemas.openxmlformats.org/officeDocument/2006/relationships/slide" Target="/ppt/slides/slide2.xml" Id="R0f06ff6c7f254fa6" /><Relationship Type="http://schemas.openxmlformats.org/officeDocument/2006/relationships/slide" Target="/ppt/slides/slide3.xml" Id="R01bdff62d95c44e2" /><Relationship Type="http://schemas.openxmlformats.org/officeDocument/2006/relationships/slide" Target="/ppt/slides/slide4.xml" Id="R08020f83ec0b43e2" /><Relationship Type="http://schemas.openxmlformats.org/officeDocument/2006/relationships/slide" Target="/ppt/slides/slide5.xml" Id="R38bfb290737e4c16" /><Relationship Type="http://schemas.openxmlformats.org/officeDocument/2006/relationships/slide" Target="/ppt/slides/slide6.xml" Id="Red4265d3418d4858" /><Relationship Type="http://schemas.openxmlformats.org/officeDocument/2006/relationships/slide" Target="/ppt/slides/slide7.xml" Id="R5ae38ec080e14235" /><Relationship Type="http://schemas.openxmlformats.org/officeDocument/2006/relationships/slide" Target="/ppt/slides/slide8.xml" Id="R3076cb1120b245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7e6dfa3cc244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f04da8fa14279" /><Relationship Type="http://schemas.openxmlformats.org/officeDocument/2006/relationships/notesMaster" Target="/ppt/notesMasters/notesMaster1.xml" Id="Rb8a58ca502cd49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418c81f5674340" /><Relationship Type="http://schemas.openxmlformats.org/officeDocument/2006/relationships/notesMaster" Target="/ppt/notesMasters/notesMaster1.xml" Id="R0e4884ec715c48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c8df8572234312" /><Relationship Type="http://schemas.openxmlformats.org/officeDocument/2006/relationships/notesMaster" Target="/ppt/notesMasters/notesMaster1.xml" Id="R3f07ced07ab448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b52a2183394e1c" /><Relationship Type="http://schemas.openxmlformats.org/officeDocument/2006/relationships/notesMaster" Target="/ppt/notesMasters/notesMaster1.xml" Id="Rd915c6d254544b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59403970ec4b67" /><Relationship Type="http://schemas.openxmlformats.org/officeDocument/2006/relationships/notesMaster" Target="/ppt/notesMasters/notesMaster1.xml" Id="Rd6bb5656286c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2b39503d04092" /><Relationship Type="http://schemas.openxmlformats.org/officeDocument/2006/relationships/notesMaster" Target="/ppt/notesMasters/notesMaster1.xml" Id="R1509c666d66e4c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585435811f44c5" /><Relationship Type="http://schemas.openxmlformats.org/officeDocument/2006/relationships/notesMaster" Target="/ppt/notesMasters/notesMaster1.xml" Id="R3a851f13cee94e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5a6d980e034ca3" /><Relationship Type="http://schemas.openxmlformats.org/officeDocument/2006/relationships/notesMaster" Target="/ppt/notesMasters/notesMaster1.xml" Id="R85b7948059704c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https://elevenlabs.io/blog/500m-arr-and-new-investors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https://elevenlabs.io/blog/elevenlabs-comes-out-of-beta-and-releases-eleven-multilingual-v2-a-foundational-ai-speech-model-for-nearly-30-languages</a:t>
            </a:r>
          </a:p>
          <a:p xmlns:a="http://schemas.openxmlformats.org/drawingml/2006/main">
            <a:r>
              <a:t>- https://elevenlabs.io/blog/introducing-elevenlabs-agents</a:t>
            </a:r>
          </a:p>
          <a:p xmlns:a="http://schemas.openxmlformats.org/drawingml/2006/main">
            <a:r>
              <a:t>- https://elevenlabs.io/blog/introducing-elevenagents-spotlight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https://elevenlabs.io/blog/introducing-voice-actor-payouts</a:t>
            </a:r>
          </a:p>
          <a:p xmlns:a="http://schemas.openxmlformats.org/drawingml/2006/main">
            <a:r>
              <a:t>- https://elevenlabs.io/blog/22-million-earned-by-voice-creators-on-elevenlabs</a:t>
            </a:r>
          </a:p>
          <a:p xmlns:a="http://schemas.openxmlformats.org/drawingml/2006/main">
            <a:r>
              <a:t>- https://elevenlabs.io/blog/introducing-elevenlabs-agents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https://time.com/7325957/mati-staniszewski-elevenlabs-interview/</a:t>
            </a:r>
          </a:p>
          <a:p xmlns:a="http://schemas.openxmlformats.org/drawingml/2006/main">
            <a:r>
              <a:t>- https://elevenlabs.io/blog/introducing-elevenlabs-agents</a:t>
            </a:r>
          </a:p>
          <a:p xmlns:a="http://schemas.openxmlformats.org/drawingml/2006/main">
            <a:r>
              <a:t>- https://sites.duke.edu/ddmc/2024/10/23/eleven-labs-falls-short/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https://apnews.com/article/2500813b642169478c27c168aab1b3e3</a:t>
            </a:r>
          </a:p>
          <a:p xmlns:a="http://schemas.openxmlformats.org/drawingml/2006/main">
            <a:r>
              <a:t>- https://sites.duke.edu/ddmc/2024/10/23/eleven-labs-falls-short/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https://elevenlabs.io/blog/500m-arr-and-new-investors</a:t>
            </a:r>
          </a:p>
          <a:p xmlns:a="http://schemas.openxmlformats.org/drawingml/2006/main">
            <a:r>
              <a:t>- https://time.com/7325957/mati-staniszewski-elevenlabs-interview/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https://elevenlabs.io/blog/22-million-earned-by-voice-creators-on-elevenlabs</a:t>
            </a:r>
          </a:p>
          <a:p xmlns:a="http://schemas.openxmlformats.org/drawingml/2006/main">
            <a:r>
              <a:t>- https://elevenlabs.io/blog/500m-arr-and-new-investors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https://elevenlabs.io/blog/500m-arr-and-new-investors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ee02b74124b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5e5cd72e445d0" /><Relationship Type="http://schemas.openxmlformats.org/officeDocument/2006/relationships/slideLayout" Target="/ppt/slideLayouts/slideLayout1.xml" Id="R0c5c438f062143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c438f062143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329ab606844d2" /><Relationship Type="http://schemas.openxmlformats.org/officeDocument/2006/relationships/notesSlide" Target="/ppt/notesSlides/notesSlide1.xml" Id="R24dd51e678c345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a0358e3d444f" /><Relationship Type="http://schemas.openxmlformats.org/officeDocument/2006/relationships/notesSlide" Target="/ppt/notesSlides/notesSlide2.xml" Id="R17801212919f4b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ecd66f4d44780" /><Relationship Type="http://schemas.openxmlformats.org/officeDocument/2006/relationships/notesSlide" Target="/ppt/notesSlides/notesSlide3.xml" Id="Rc912d06e11ae40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54b86ba6b4ced" /><Relationship Type="http://schemas.openxmlformats.org/officeDocument/2006/relationships/notesSlide" Target="/ppt/notesSlides/notesSlide4.xml" Id="Rbb78277ba74d42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45c84370644bb" /><Relationship Type="http://schemas.openxmlformats.org/officeDocument/2006/relationships/notesSlide" Target="/ppt/notesSlides/notesSlide5.xml" Id="Recf8d4173ea540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f0d7393054b8c" /><Relationship Type="http://schemas.openxmlformats.org/officeDocument/2006/relationships/notesSlide" Target="/ppt/notesSlides/notesSlide6.xml" Id="Rbdcfc6e3f7e941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4d4a255e34202" /><Relationship Type="http://schemas.openxmlformats.org/officeDocument/2006/relationships/notesSlide" Target="/ppt/notesSlides/notesSlide7.xml" Id="R4844094e3ef446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f62014a5d46c6" /><Relationship Type="http://schemas.openxmlformats.org/officeDocument/2006/relationships/notesSlide" Target="/ppt/notesSlides/notesSlide8.xml" Id="Ra924cbf1bca04f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783E2-B863-46F1-BB42-D230A2F6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AI PRODUCT TEARDOWN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F08B8-D205-440C-9E9A-FB1C4742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ElevenLabs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25580-6449-43C1-A503-EC8D19E4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7243A"/>
                </a:solidFill>
              </a:defRPr>
            </a:pPr>
            <a:r>
              <a:rPr sz="2550" b="0">
                <a:solidFill>
                  <a:srgbClr val="17243A"/>
                </a:solidFill>
              </a:rPr>
              <a:t>Từ mô hình giọng nói gây “wow”</a:t>
            </a:r>
          </a:p>
          <a:p xmlns:a="http://schemas.openxmlformats.org/drawingml/2006/main">
            <a:pPr algn="l">
              <a:defRPr sz="2550" b="0">
                <a:solidFill>
                  <a:srgbClr val="17243A"/>
                </a:solidFill>
              </a:defRPr>
            </a:pPr>
            <a:r>
              <a:rPr sz="2550" b="0">
                <a:solidFill>
                  <a:srgbClr val="17243A"/>
                </a:solidFill>
              </a:rPr>
              <a:t>đến hạ tầng tương tác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6ED6D-BBD4-444E-982A-43DE7BA5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85800"/>
            <a:ext cx="33147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41132-4AF8-48E6-8691-312FD40C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90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EFF"/>
                </a:solidFill>
              </a:defRPr>
            </a:pPr>
            <a:r>
              <a:rPr sz="1275" b="1">
                <a:solidFill>
                  <a:srgbClr val="DCEEFF"/>
                </a:solidFill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79865-207B-4E02-9ADA-6DE81CB9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D9481-8382-4611-B772-42D0C363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ED8B4-F703-4547-89BA-208EAC27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MARKETPLACE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A65E5-9B99-4C27-805A-76A38FD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8CD3D-AF6A-4529-ABBB-FABC5309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EFF"/>
                </a:solidFill>
              </a:defRPr>
            </a:pPr>
            <a:r>
              <a:rPr sz="1350" b="1">
                <a:solidFill>
                  <a:srgbClr val="DCEEFF"/>
                </a:solidFill>
              </a:rPr>
              <a:t>Moat tương lai = trust + outcome ở quy mô lớn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6F063-8331-4065-80DB-5B8B9A64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666A"/>
                </a:solidFill>
              </a:defRPr>
            </a:pPr>
            <a:r>
              <a:rPr sz="1200" b="0">
                <a:solidFill>
                  <a:srgbClr val="63666A"/>
                </a:solidFill>
              </a:rPr>
              <a:t>Cập nhật 14.08.2026  ·  Nhóm: Chưa cập nhật</a:t>
            </a:r>
          </a:p>
        </p:txBody>
      </p:sp>
    </p:spTree>
    <p:extLst>
      <p:ext uri="{BB962C8B-B14F-4D97-AF65-F5344CB8AC3E}">
        <p14:creationId xmlns:p14="http://schemas.microsoft.com/office/powerpoint/2010/main" val="18513701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00EF2F-30A1-4514-A0BE-E21BBA2A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6F0DA-82D9-48F4-A7D4-2AF9836A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Tám quyết định cho thấy một chiến lược đi lên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95D65-6480-4300-BE7E-5EC29D30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66A"/>
                </a:solidFill>
              </a:defRPr>
            </a:pPr>
            <a:r>
              <a:rPr sz="1275" b="0">
                <a:solidFill>
                  <a:srgbClr val="63666A"/>
                </a:solidFill>
              </a:rPr>
              <a:t>Model → workflow → marketplace → enterprise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5FEBC-3043-45BC-9F9B-6D8CAAF6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501B5-9E48-40D4-A913-259577A6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B5251-4F98-4E85-9D1B-3AC1FC46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5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08368-EC85-4671-B22C-74CBAB04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2023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12729-6357-4D71-A98D-4CCF40A9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81400"/>
            <a:ext cx="15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4C1B0-7369-4CD2-A256-E6A5C868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2024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EF1A1-C511-47C1-8D4D-80EBE1AA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15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DB577-E968-42D7-81BC-BAFE2620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DD1F6-7304-4A1F-AFF0-EB6987FD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81400"/>
            <a:ext cx="152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774D9-AD6E-4FCA-B107-B41A6B05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143C1-CDE2-4107-92C3-024D95F8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A818A-D81E-4CD9-911A-77BDAB35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478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TTS + cloning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DD25C-94DA-4887-AE04-ED1E9EC8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66A"/>
                </a:solidFill>
              </a:defRPr>
            </a:pPr>
            <a:r>
              <a:rPr sz="1050" b="0">
                <a:solidFill>
                  <a:srgbClr val="63666A"/>
                </a:solidFill>
              </a:rPr>
              <a:t>Wow wedge → 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261B7-AD18-4B71-B825-45188D44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67025"/>
            <a:ext cx="190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52F52-018E-43BF-80C8-8AAF7CC3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672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ADCE9-606C-4274-A2F4-EE4918E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625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Multilingual + Dubbing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4BA6D-2940-431D-9CB8-0E1F447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673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66A"/>
                </a:solidFill>
              </a:defRPr>
            </a:pPr>
            <a:r>
              <a:rPr sz="1050" b="0">
                <a:solidFill>
                  <a:srgbClr val="63666A"/>
                </a:solidFill>
              </a:rPr>
              <a:t>Mở TAM, sở hữu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F8070-782A-492C-9B3D-F42A06D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3AD17-E501-4916-80DD-4E6F4F27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64B885-47BC-4472-AA9D-33611333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478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Voice payouts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2BE8C-10BA-4257-9701-B3D467FC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526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66A"/>
                </a:solidFill>
              </a:defRPr>
            </a:pPr>
            <a:r>
              <a:rPr sz="1050" b="0">
                <a:solidFill>
                  <a:srgbClr val="63666A"/>
                </a:solidFill>
              </a:rPr>
              <a:t>Trust thành marketplace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EA475-1AF3-4B33-A85A-54652C03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67025"/>
            <a:ext cx="190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A0D46-0D4A-40BA-8CB2-C6C805F2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672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68BB2-D2D7-4798-8B6C-6685C3F4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625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Conversational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631DF7-70CB-41AB-BA7C-A2D0C1A2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673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66A"/>
                </a:solidFill>
              </a:defRPr>
            </a:pPr>
            <a:r>
              <a:rPr sz="1050" b="0">
                <a:solidFill>
                  <a:srgbClr val="63666A"/>
                </a:solidFill>
              </a:rPr>
              <a:t>Artifact → interaction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FC2112-453B-4431-AA54-60DF147E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2931F9-F4B5-4C98-BC2F-ABEDB9B5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46BF16-13BB-4D3E-B516-1C448CDC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478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Scribe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1AF47-F4BF-43BD-B95B-08717BA5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5267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66A"/>
                </a:solidFill>
              </a:defRPr>
            </a:pPr>
            <a:r>
              <a:rPr sz="1050" b="0">
                <a:solidFill>
                  <a:srgbClr val="63666A"/>
                </a:solidFill>
              </a:rPr>
              <a:t>Sở hữu input 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9830CE-32DA-4950-9BB3-B0CCBDE2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190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C1581F-4AFB-4181-8889-73930C1C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A62BA8-0EB4-4881-AD55-A842CF52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Agents + Workflows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F49A3-8D26-4DE5-8615-A193C5AE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67300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66A"/>
                </a:solidFill>
              </a:defRPr>
            </a:pPr>
            <a:r>
              <a:rPr sz="1050" b="0">
                <a:solidFill>
                  <a:srgbClr val="63666A"/>
                </a:solidFill>
              </a:rPr>
              <a:t>Vượt production chasm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648747-FDD7-45EA-B092-45637325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FD0407-72B2-4348-BF78-A87BF5D3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ADEBBE-BEB9-497A-A9A0-4A57BC90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478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Dubbing v2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2D8657-9414-48C0-8BC2-2D13F80E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5267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66A"/>
                </a:solidFill>
              </a:defRPr>
            </a:pPr>
            <a:r>
              <a:rPr sz="1050" b="0">
                <a:solidFill>
                  <a:srgbClr val="63666A"/>
                </a:solidFill>
              </a:rPr>
              <a:t>Human + automation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DC6C87-11F3-4FB4-B350-E6D4C21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867025"/>
            <a:ext cx="190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03BFF6-6F9D-440D-80BA-9B8DE9EE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67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B81D65-84CA-456B-8856-984FB5BB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62500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Spotlight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CA8BB6-57AD-42F1-B43C-E6539D4F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6730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666A"/>
                </a:solidFill>
              </a:defRPr>
            </a:pPr>
            <a:r>
              <a:rPr sz="1050" b="0">
                <a:solidFill>
                  <a:srgbClr val="63666A"/>
                </a:solidFill>
              </a:rPr>
              <a:t>Đóng outcome loop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08DD89-A548-4836-8F09-1B404F05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147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D18647-591E-4FAC-B923-6BD7E969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66A"/>
                </a:solidFill>
              </a:defRPr>
            </a:pPr>
            <a:r>
              <a:rPr sz="750" b="0">
                <a:solidFill>
                  <a:srgbClr val="63666A"/>
                </a:solidFill>
              </a:rPr>
              <a:t>Nguồn: ElevenLabs product blog 2023–2026; Associated Press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BD5074-9CF7-431F-BA5F-A3F204C6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666A"/>
                </a:solidFill>
              </a:defRPr>
            </a:pPr>
            <a:r>
              <a:rPr sz="825" b="0">
                <a:solidFill>
                  <a:srgbClr val="63666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8342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C8EBF-0000-4166-A228-A11C755A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A8A7F-BDF9-4072-972B-B85D802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Ba nguyên lý giải thích phần lớn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1F291-F4F8-476B-BB3F-A511AE98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1EA93-A5F2-4EC6-8663-0847715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6A6BA-4A2F-4F03-B7E2-3BDB17E4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89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DF6E9-1084-45F8-A0D7-A3D44DE1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89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Bán workflow,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không chỉ bán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34A9F-B4E8-477B-A380-103361AC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666A"/>
                </a:solidFill>
              </a:defRPr>
            </a:pPr>
            <a:r>
              <a:rPr sz="1350" b="0">
                <a:solidFill>
                  <a:srgbClr val="63666A"/>
                </a:solidFill>
              </a:rPr>
              <a:t>Dubbing gom STT → dịch → clone → timing. Agents gom voice → tools → test → monitor.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BC1D0-22A6-49E1-8A09-DD470C4A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4ADDC-412E-43E1-9E18-95139AC5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0325"/>
            <a:ext cx="289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43B17-ECD6-4725-8F6B-C7F1E48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289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Biến rủi ro IP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thành marketplace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B00B4-3957-4E6A-B1D7-3640C797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100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666A"/>
                </a:solidFill>
              </a:defRPr>
            </a:pPr>
            <a:r>
              <a:rPr sz="1350" b="0">
                <a:solidFill>
                  <a:srgbClr val="63666A"/>
                </a:solidFill>
              </a:rPr>
              <a:t>Consent + control + payout mở supply và tạo network effects. Payout vượt $22M.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49B24D-1A3E-49BC-9806-DA748BFE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93BFA-E112-45E9-AA16-3C1C3568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0325"/>
            <a:ext cx="2895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F9C7D-0C53-41DD-85CD-4A91334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2895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Enterprise mua</a:t>
            </a:r>
          </a:p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reliability, không mua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8427B-B27B-4D93-B718-144B61F2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000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666A"/>
                </a:solidFill>
              </a:defRPr>
            </a:pPr>
            <a:r>
              <a:rPr sz="1350" b="0">
                <a:solidFill>
                  <a:srgbClr val="63666A"/>
                </a:solidFill>
              </a:rPr>
              <a:t>Tests, Workflows, handoff và Spotlight mới mở deployment có giá trị cao.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75693-AD57-486F-AA0E-1EB53D27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58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1C75B-F918-47AF-8C61-B3748858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960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Đánh đổi: breadth tăng TAM, nhưng reliability của agent quan trọng hơn thêm một modality.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E576D-8965-4980-8CAB-0AA9EAB6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66A"/>
                </a:solidFill>
              </a:defRPr>
            </a:pPr>
            <a:r>
              <a:rPr sz="750" b="0">
                <a:solidFill>
                  <a:srgbClr val="63666A"/>
                </a:solidFill>
              </a:rPr>
              <a:t>Nguồn: Voice Actor Payouts; Introducing Agents; Spotlight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0ACD5-FC2E-4192-9DC0-7D047674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666A"/>
                </a:solidFill>
              </a:defRPr>
            </a:pPr>
            <a:r>
              <a:rPr sz="825" b="0">
                <a:solidFill>
                  <a:srgbClr val="63666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4841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8D61B-7BFD-4F69-A5E9-901687E4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09D8B-2E90-4319-9010-963D3E4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ElevenLabs phân tầng user thay vì bỏ tệp ban đầu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3C95B-84B3-4B5F-9970-DCE1A6E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64B08-5BD5-45C9-B5F7-8737D6E6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4762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A7F4E-FC20-4908-A4B7-168A7D1F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4762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9093A-5867-40D8-BDFA-BD21FE63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EARLY ADOPTERS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C4F94-6FA0-4EC1-A84A-021A374B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Creator tự phục vụ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B8CEE-3E31-4456-BD30-99744DD9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666A"/>
                </a:solidFill>
              </a:defRPr>
            </a:pPr>
            <a:r>
              <a:rPr sz="1350" b="0">
                <a:solidFill>
                  <a:srgbClr val="63666A"/>
                </a:solidFill>
              </a:rPr>
              <a:t>YouTuber · indie author · game dev</a:t>
            </a:r>
          </a:p>
          <a:p xmlns:a="http://schemas.openxmlformats.org/drawingml/2006/main">
            <a:pPr algn="l">
              <a:defRPr sz="1350" b="0">
                <a:solidFill>
                  <a:srgbClr val="63666A"/>
                </a:solidFill>
              </a:defRPr>
            </a:pPr>
            <a:r>
              <a:rPr sz="1350" b="0">
                <a:solidFill>
                  <a:srgbClr val="63666A"/>
                </a:solidFill>
              </a:rPr>
              <a:t>localization team nhỏ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79DE7-D3BA-4D30-B402-844FB204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Khi không có studio/talent, tôi muốn tạo voiceover giống người trong vài phút để publish nhanh với ngân sách nhỏ.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6B8BD-0AD2-4E4A-BB93-9042CCB8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90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TỆP HIỆN TẠI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CD32D-98F5-44F9-B26C-0573EC3B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90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Team + enterprise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53601-CFDB-4F16-87CA-059F859A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051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666A"/>
                </a:solidFill>
              </a:defRPr>
            </a:pPr>
            <a:r>
              <a:rPr sz="1350" b="0">
                <a:solidFill>
                  <a:srgbClr val="63666A"/>
                </a:solidFill>
              </a:rPr>
              <a:t>Creative/marketing · CX · product · 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0666F-9283-4C4F-A5C1-4ABBA1FD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29050"/>
            <a:ext cx="4000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Khi phục vụ hàng nghìn user đa channel/ngôn ngữ, tôi muốn deploy và kiểm soát workflow end-to-end để tăng resolution mà không tăng headcount tuyến tính.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CB2DB-9EB5-4649-ACDE-920FAF70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19450"/>
            <a:ext cx="83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3D8DFF"/>
                </a:solidFill>
              </a:defRPr>
            </a:pPr>
            <a:r>
              <a:rPr sz="34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E99F2-FC6F-41A7-839C-80D93A8B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43A"/>
                </a:solidFill>
              </a:defRPr>
            </a:pPr>
            <a:r>
              <a:rPr sz="1425" b="1">
                <a:solidFill>
                  <a:srgbClr val="17243A"/>
                </a:solidFill>
              </a:rPr>
              <a:t>Supply side: voice talent cấp phép digital replica với terms + payout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37DCE-8475-40F7-BF13-9634D4B0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66A"/>
                </a:solidFill>
              </a:defRPr>
            </a:pPr>
            <a:r>
              <a:rPr sz="750" b="0">
                <a:solidFill>
                  <a:srgbClr val="63666A"/>
                </a:solidFill>
              </a:rPr>
              <a:t>Nguồn: TIME; ElevenLabs Agents; Duke Digital Media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5F4616-1E1C-43D7-BB9E-EE68150C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666A"/>
                </a:solidFill>
              </a:defRPr>
            </a:pPr>
            <a:r>
              <a:rPr sz="825" b="0">
                <a:solidFill>
                  <a:srgbClr val="63666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9484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544E3-146E-4B81-A06E-2E73B688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2C4DF-7BC1-4225-93CA-D05A37A8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Pilot dễ; trust và integration quyết định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15914-9C87-481B-9F1E-851AFD68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61E38-FE29-403E-94D4-3624EB6C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87A25-0136-4917-ADDF-E85E3722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MẠNH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9BE52-83AF-47AD-80E3-F73615D0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336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99E63-33ED-4EED-94D1-F3FC565A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33600"/>
            <a:ext cx="289750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99D16-2786-4FB1-9A4F-37F969A3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66A"/>
                </a:solidFill>
              </a:defRPr>
            </a:pPr>
            <a:r>
              <a:rPr sz="1275" b="0">
                <a:solidFill>
                  <a:srgbClr val="63666A"/>
                </a:solidFill>
              </a:rPr>
              <a:t>Recording, dubbing và support truyền thống đắt, chậm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EC795-CF19-447E-AA7D-0757B3AB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PULL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2193E-9A6C-4DF9-9984-64ECB62C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52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MẠNH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0BE59-3231-429C-A9A6-81C1456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8CE02-2A96-4E68-A867-AD09963C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31203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4688B-D983-438E-9C72-4F3A9D0B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337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66A"/>
                </a:solidFill>
              </a:defRPr>
            </a:pPr>
            <a:r>
              <a:rPr sz="1275" b="0">
                <a:solidFill>
                  <a:srgbClr val="63666A"/>
                </a:solidFill>
              </a:rPr>
              <a:t>Voice tự nhiên + multilingual + workflow end-to-end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B87BD-F7B7-4BB0-B2D5-2F5F3A28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ANXIETY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3DFDE-DBCE-40F9-9857-DCB3368B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RẤT MẠNH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B292C-BB42-4082-9471-6E0B7C0C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71F0D-E0CC-4255-9764-A75C5729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86200"/>
            <a:ext cx="352901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92CBE-06E9-4156-88DC-1A316C8E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66A"/>
                </a:solidFill>
              </a:defRPr>
            </a:pPr>
            <a:r>
              <a:rPr sz="1275" b="0">
                <a:solidFill>
                  <a:srgbClr val="63666A"/>
                </a:solidFill>
              </a:rPr>
              <a:t>Deepfake · hallucination · PII · mistranslation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D171F-2ADC-4661-9372-FB893106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HABIT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69856-59D9-46D3-97F1-642DB359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05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VỪA–MẠNH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0C9A2-3E48-4BD9-9270-DDCBCDAC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4C535-5CAD-494B-9563-C5F08D65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25260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56E0EC-9426-448F-AECA-90FAAA9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66A"/>
                </a:solidFill>
              </a:defRPr>
            </a:pPr>
            <a:r>
              <a:rPr sz="1275" b="0">
                <a:solidFill>
                  <a:srgbClr val="63666A"/>
                </a:solidFill>
              </a:rPr>
              <a:t>DAW · talent · contact center · CRM · telephony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54014-3111-42E7-8442-4A9B2A87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B003A1-3407-46BE-A727-676AF51A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Demo quality mở cửa. Trust + integration quyết định deployment. Dữ liệu vận hành tạo switching cost.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5EFFF9-3F34-445B-91ED-F37E0C08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66A"/>
                </a:solidFill>
              </a:defRPr>
            </a:pPr>
            <a:r>
              <a:rPr sz="750" b="0">
                <a:solidFill>
                  <a:srgbClr val="63666A"/>
                </a:solidFill>
              </a:rPr>
              <a:t>Nguồn: AP safeguard test 2024; Duke; community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F5C19A-E74D-46D7-BE80-509296B3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666A"/>
                </a:solidFill>
              </a:defRPr>
            </a:pPr>
            <a:r>
              <a:rPr sz="825" b="0">
                <a:solidFill>
                  <a:srgbClr val="63666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6443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4B4708-66A0-4971-BBA7-9E418C95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FB7D7-71E3-4165-835A-85B85F5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Ba dự đoán có thể kiểm chứng trước tháng 8/2027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EDB6E-D2B3-43F3-8AEA-30257D59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8EA64-4835-4137-A723-6B7A885A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E419C-1178-473E-B6C4-5EB4D00D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VERTICAL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CA6E6-998A-4B11-A453-CCBB0CFF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145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≥2 gói theo ngành, kèm workflow, evaluation, compliance và managed deployment.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C6BCAE-BE4D-45B9-AB76-2B617AFB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1452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66A"/>
                </a:solidFill>
              </a:defRPr>
            </a:pPr>
            <a:r>
              <a:rPr sz="1125" b="0">
                <a:solidFill>
                  <a:srgbClr val="63666A"/>
                </a:solidFill>
              </a:rPr>
              <a:t>Tín hiệu: pricing theo outcome; FDE; partnership contact-center.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5459A-EE66-4E87-B280-A6A85ABB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BB6F5-26A3-4D22-83EF-FC6426D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2ED4A-3EBD-4DA8-9F1B-20124F44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051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RIGHTS MARKETPLACE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4B805-ED68-4F5A-88CF-0FECCF0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670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Identity pack đa phương tiện; cumulative creator payout vượt $40M.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79C34-C2AF-414C-9020-6187D2AA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6707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66A"/>
                </a:solidFill>
              </a:defRPr>
            </a:pPr>
            <a:r>
              <a:rPr sz="1125" b="0">
                <a:solidFill>
                  <a:srgbClr val="63666A"/>
                </a:solidFill>
              </a:rPr>
              <a:t>Tín hiệu: unified rights dashboard; provenance API; label/estate deals.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3EA46-2EAA-4ED7-A3CC-E4CD720E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9BE47-16C7-46E4-A6C4-855C071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3B857-870B-4434-B027-F2B8002F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577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AUDIO-NATIVE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9047D-772B-4AB3-8F74-A88A4424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Preview/GA full-duplex audio-in/audio-out nhưng vẫn hỗ trợ custom LLM/STT.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4D7C9-1E82-4DF9-A38F-27F9593E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962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66A"/>
                </a:solidFill>
              </a:defRPr>
            </a:pPr>
            <a:r>
              <a:rPr sz="1125" b="0">
                <a:solidFill>
                  <a:srgbClr val="63666A"/>
                </a:solidFill>
              </a:rPr>
              <a:t>Tín hiệu: streaming API; unified conversation pricing; benchmark interruption.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0DAAC-F377-4588-80B7-9FCB0745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43A"/>
                </a:solidFill>
              </a:defRPr>
            </a:pPr>
            <a:r>
              <a:rPr sz="1425" b="1">
                <a:solidFill>
                  <a:srgbClr val="17243A"/>
                </a:solidFill>
              </a:rPr>
              <a:t>Logic: ElevenLabs luôn đóng loop còn thiếu; bottleneck kế tiếp là production trust và IP control.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23D89-0ECC-474D-AA66-2F641679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66A"/>
                </a:solidFill>
              </a:defRPr>
            </a:pPr>
            <a:r>
              <a:rPr sz="750" b="0">
                <a:solidFill>
                  <a:srgbClr val="63666A"/>
                </a:solidFill>
              </a:rPr>
              <a:t>Khung dự đoán: 14.08.2026–14.08.2027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DBDB0-D2DB-4E74-A26B-3FB280F3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666A"/>
                </a:solidFill>
              </a:defRPr>
            </a:pPr>
            <a:r>
              <a:rPr sz="825" b="0">
                <a:solidFill>
                  <a:srgbClr val="63666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032001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06D8B0-C81A-4017-9290-8D7CE563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9E42E-C07F-4968-AC04-19FC2276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Dự đoán khó nhất: marketplace sẽ mở rộng từ giọng sang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0B60B-F46D-4B1E-8867-CAE7AAE0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6CEC0-BCD2-4C23-A0E5-9A9AEBF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$11M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B0002-9072-475E-ADA5-99F087C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66A"/>
                </a:solidFill>
              </a:defRPr>
            </a:pPr>
            <a:r>
              <a:rPr sz="1125" b="0">
                <a:solidFill>
                  <a:srgbClr val="63666A"/>
                </a:solidFill>
              </a:rPr>
              <a:t>11/2025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B8DD2E-23DC-433C-A655-6614042A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A82AD-C858-41E4-9058-73E69051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</a:defRPr>
            </a:pPr>
            <a:r>
              <a:rPr sz="3600" b="1">
                <a:solidFill>
                  <a:srgbClr val="3D8DFF"/>
                </a:solidFill>
              </a:rPr>
              <a:t>$22M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63657-4C97-4834-9C35-8E47E15A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666A"/>
                </a:solidFill>
              </a:defRPr>
            </a:pPr>
            <a:r>
              <a:rPr sz="1125" b="0">
                <a:solidFill>
                  <a:srgbClr val="63666A"/>
                </a:solidFill>
              </a:rPr>
              <a:t>05/2026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0D2FA-C2BF-47FF-A3C1-713FBD2E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43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1A9E7-5A52-4566-9492-26CB25D0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371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36F23-42C4-4934-836B-F59314D6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574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&gt; $40M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F820F-A3FF-44C9-9486-1AB17C5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52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EFF"/>
                </a:solidFill>
              </a:defRPr>
            </a:pPr>
            <a:r>
              <a:rPr sz="1200" b="0">
                <a:solidFill>
                  <a:srgbClr val="DCEEFF"/>
                </a:solidFill>
              </a:rPr>
              <a:t>dự đoán trước 08/2027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D6318-2728-4360-8D00-D82821F6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C7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90E57-C92D-44B9-BB7A-7B9FBFFD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VÌ SAO CÓ THỂ ĐÚNG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4C6F9-8156-4703-966E-53CAE424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Payout tăng gấp đôi trong 6 tháng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Creative đang gộp voice, music, image/video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Brand cần identity nhất quán đa ngôn ngữ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1BE8C-230E-4446-A44D-7FA28D99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ĐIỀU KHIẾN NHÓM ĐỔI 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B5EBE-857A-4EFA-ACBF-9DDC7E41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Litigation làm catalog co lại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Payout growth chậm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Buyer tiếp tục chuộng stock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A9AF6-B21C-4F92-A160-55A168DC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058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36826-DED3-4AEC-BA34-871692E9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967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43A"/>
                </a:solidFill>
              </a:defRPr>
            </a:pPr>
            <a:r>
              <a:rPr sz="1350" b="1">
                <a:solidFill>
                  <a:srgbClr val="17243A"/>
                </a:solidFill>
              </a:rPr>
              <a:t>Tín hiệu sớm: unified rights dashboard · Music Marketplace · provenance API · estate/label deals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8EC9B-ACC5-4A29-AD01-7F210F33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66A"/>
                </a:solidFill>
              </a:defRPr>
            </a:pPr>
            <a:r>
              <a:rPr sz="750" b="0">
                <a:solidFill>
                  <a:srgbClr val="63666A"/>
                </a:solidFill>
              </a:rPr>
              <a:t>Nguồn: ElevenLabs, $22M earned by voice creators, 22.05.2026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E64062-1D7D-41AE-B423-3F4EF75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666A"/>
                </a:solidFill>
              </a:defRPr>
            </a:pPr>
            <a:r>
              <a:rPr sz="825" b="0">
                <a:solidFill>
                  <a:srgbClr val="63666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673335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19D9C-0C0A-44B8-95C4-2D9886C0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EFF"/>
                </a:solidFill>
              </a:defRPr>
            </a:pPr>
            <a:r>
              <a:rPr sz="1125" b="1">
                <a:solidFill>
                  <a:srgbClr val="DCEEFF"/>
                </a:solidFill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5B869-48F5-4767-933C-5BB8E732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76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AI model tạo wedge.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Workflow tạo retention.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Trust + data loop tạo moat.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FE242-FC84-4B85-8D9B-CD5F0092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7B5BF-0951-46A0-857D-A2EFB698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EFF"/>
                </a:solidFill>
              </a:defRPr>
            </a:pPr>
            <a:r>
              <a:rPr sz="1800" b="0">
                <a:solidFill>
                  <a:srgbClr val="DCEEFF"/>
                </a:solidFill>
              </a:rPr>
              <a:t>ElevenLabs thắng vòng đầu bằng “nghe như người”.</a:t>
            </a:r>
          </a:p>
          <a:p xmlns:a="http://schemas.openxmlformats.org/drawingml/2006/main">
            <a:pPr algn="l">
              <a:defRPr sz="1800" b="0">
                <a:solidFill>
                  <a:srgbClr val="DCEEFF"/>
                </a:solidFill>
              </a:defRPr>
            </a:pPr>
            <a:r>
              <a:rPr sz="1800" b="0">
                <a:solidFill>
                  <a:srgbClr val="DCEEFF"/>
                </a:solidFill>
              </a:rPr>
              <a:t>Vòng sau được quyết định bởi “hoạt động đáng tin như một hệ thống”.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E2449-9009-4059-BF66-02C2CCA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647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E4BD4-396D-4A44-80ED-89AD3D7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672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CÂU HỎI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6E630-E28C-48A6-A43A-1789067D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910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Creative suite, contact-center platform hay neutral audio infrastructure?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1408F-328F-41FC-A0DD-6785678F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EFF"/>
                </a:solidFill>
              </a:defRPr>
            </a:pPr>
            <a:r>
              <a:rPr sz="1050" b="0">
                <a:solidFill>
                  <a:srgbClr val="DCEEFF"/>
                </a:solidFill>
              </a:rPr>
              <a:t>Nguồn đầy đủ &amp; AI log: memo.md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835C-B34E-48E8-965F-2D3E86A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CEEFF"/>
                </a:solidFill>
              </a:defRPr>
            </a:pPr>
            <a:r>
              <a:rPr sz="900" b="0">
                <a:solidFill>
                  <a:srgbClr val="DCEE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6006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2026-08-14T05:00:43.4010000Z</dcterms:created>
  <dcterms:modified xsi:type="dcterms:W3CDTF">2026-08-14T05:00:43.4010000Z</dcterms:modified>
</coreProperties>
</file>